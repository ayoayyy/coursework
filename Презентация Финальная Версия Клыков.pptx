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F0FC6-D54B-43DE-AFEC-1A5D1AFFC0A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1824B-9FB3-4666-A544-E6F760165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68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F1824B-9FB3-4666-A544-E6F760165A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54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17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86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93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88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92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68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20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29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00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07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173D2E2-2307-4CAE-AE0F-A325FD4D4B38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4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71722" y="2469368"/>
            <a:ext cx="9144000" cy="14426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Курсовой проект</a:t>
            </a:r>
            <a:br>
              <a:rPr lang="ru-RU" sz="3600" dirty="0"/>
            </a:br>
            <a:r>
              <a:rPr lang="ru-RU" sz="3600" dirty="0"/>
              <a:t>на тему «Проектирование ИС «Интернет-магазин игрушек»»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6996392" y="4274194"/>
            <a:ext cx="4850296" cy="1651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Выполнил: Клыков Д.А.,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студент 2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группы ИСиП 24-9-1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Проверила: Гончарова Т.В., должность: преподаватель проф. дисциплин</a:t>
            </a:r>
          </a:p>
          <a:p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+mj-lt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4109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5431" y="668600"/>
            <a:ext cx="7729728" cy="785731"/>
          </a:xfrm>
        </p:spPr>
        <p:txBody>
          <a:bodyPr/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9726" y="1706881"/>
            <a:ext cx="7801138" cy="4311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Интернет-магазин игрушек – это компания, осуществляющая розничную торговлю игрушками, играми и товарами для детей через интернет-платформу с доставкой покупателю.</a:t>
            </a:r>
          </a:p>
          <a:p>
            <a:pPr marL="0" indent="0">
              <a:buNone/>
            </a:pPr>
            <a:r>
              <a:rPr lang="ru-RU" sz="2000" dirty="0"/>
              <a:t>Основные бизнес-процессы:</a:t>
            </a:r>
          </a:p>
          <a:p>
            <a:r>
              <a:rPr lang="ru-RU" dirty="0"/>
              <a:t>Ведение каталога товаров (игрушки, настольные игры, конструкторы, мягкие игрушки, развивающие игры)</a:t>
            </a:r>
          </a:p>
          <a:p>
            <a:r>
              <a:rPr lang="ru-RU" dirty="0"/>
              <a:t>Оформление заказов покупателей</a:t>
            </a:r>
          </a:p>
          <a:p>
            <a:r>
              <a:rPr lang="ru-RU" dirty="0"/>
              <a:t>Организация доставки (курьерская служба, пункты выдачи, почта)</a:t>
            </a:r>
          </a:p>
          <a:p>
            <a:r>
              <a:rPr lang="ru-RU" dirty="0"/>
              <a:t>Консультирование покупателей по ассортименту</a:t>
            </a:r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688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0013" y="781811"/>
            <a:ext cx="7932637" cy="968611"/>
          </a:xfrm>
        </p:spPr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29681" y="2054571"/>
            <a:ext cx="7932637" cy="3597292"/>
          </a:xfrm>
        </p:spPr>
        <p:txBody>
          <a:bodyPr>
            <a:noAutofit/>
          </a:bodyPr>
          <a:lstStyle/>
          <a:p>
            <a:r>
              <a:rPr lang="ru-RU" dirty="0"/>
              <a:t>Ручной ввод данных (ошибки в оформлении заказов, неверные адреса доставки, опечатки в контактных данных клиентов)</a:t>
            </a:r>
          </a:p>
          <a:p>
            <a:r>
              <a:rPr lang="ru-RU" dirty="0"/>
              <a:t>Дублирование операций (многоразовое обновление остатков товаров на разных площадках, ручное обновление цен и ассортимента)</a:t>
            </a:r>
          </a:p>
          <a:p>
            <a:r>
              <a:rPr lang="ru-RU" dirty="0"/>
              <a:t>Отсутствие единой базы (сложно отследить наличие товаров на складе, низкая прозрачность складских запасов, трудный поиск нужных игрушек по категориям и производителям)</a:t>
            </a:r>
          </a:p>
          <a:p>
            <a:r>
              <a:rPr lang="ru-RU" dirty="0"/>
              <a:t>Нет системы уведомлений (риск пропустить новый заказ, забыть отправить клиенту информацию о доставке, упустить сроки пополнения популярных товаров)</a:t>
            </a:r>
          </a:p>
          <a:p>
            <a:r>
              <a:rPr lang="ru-RU" dirty="0"/>
              <a:t>Ручное управление ассортиментом (сложно отслеживать сезонный спрос, новинки и устаревающие позиции, отсутствие аналитики продаж)</a:t>
            </a:r>
          </a:p>
          <a:p>
            <a:pPr marL="0" indent="0">
              <a:buNone/>
            </a:pPr>
            <a:br>
              <a:rPr lang="ru-RU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597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73451" y="781813"/>
            <a:ext cx="7729728" cy="1188720"/>
          </a:xfrm>
        </p:spPr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97546" y="2289049"/>
            <a:ext cx="4592466" cy="4067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Цель проекта:</a:t>
            </a:r>
          </a:p>
          <a:p>
            <a:pPr marL="0" indent="0">
              <a:buNone/>
            </a:pPr>
            <a:r>
              <a:rPr lang="ru-RU" sz="2000" dirty="0"/>
              <a:t>Проектирование и программная реализация системы интернет-магазина игрушек для автоматизации торговых операций, управления складскими запасами, ускорения обработки заказов и интеграции с платежными системами и службами доставки.</a:t>
            </a:r>
            <a:endParaRPr lang="ru-RU" sz="2400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990012" y="2289049"/>
            <a:ext cx="7132320" cy="3680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Задачи:</a:t>
            </a:r>
            <a:endParaRPr lang="ru-RU" sz="2000" dirty="0"/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Провести анализ предметной области электронной коммерции и обосновать необходимость автоматизации.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Разработать функциональные требования и смоделировать процессы (закупка, продажа, логистика).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Спроектировать структуру нормализованной реляционной базы данных (каталог, заказы, клиенты).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Выбрать оптимальный стек технологий для разработки веб-приложения.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Разработать эргономичный пользовательский интерфейс (витрина для покупателей и админ-панель).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Реализовать модули каталога, корзины, оформления заказов и складского учета.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600" dirty="0"/>
              <a:t>Создать руководство пользователя для администраторов магазина.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863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Объект исследования:</a:t>
            </a:r>
          </a:p>
        </p:txBody>
      </p:sp>
      <p:sp>
        <p:nvSpPr>
          <p:cNvPr id="12" name="Объект 11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Бизнес-процессы интернет-магазина игрушек, связанные с управлением ассортиментом и складскими запасами, обработкой заказов клиентов, организацией доставки, учетом возрастных категорий и категорий безопасности товаров, управлением поставщиками, а также поддержкой клиентских отношений и программ лояльности.</a:t>
            </a:r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416770" cy="2596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Информационная CRM-система для интернет-магазина игрушек, методы проектирования баз данных каталога товаров с фильтрами по возрасту, производителю и категориям безопасности, алгоритмы автоматизации процессов оформления заказов, управления складом и персонализированных рекомендаций для родителей.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Предмет исследования: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 предмет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44277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89927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Контекстная </a:t>
            </a:r>
            <a:r>
              <a:rPr lang="en-US" dirty="0"/>
              <a:t> </a:t>
            </a:r>
            <a:r>
              <a:rPr lang="ru-RU" dirty="0"/>
              <a:t>Диаграмма </a:t>
            </a:r>
            <a:r>
              <a:rPr lang="en-US" dirty="0"/>
              <a:t>idef0 </a:t>
            </a:r>
            <a:r>
              <a:rPr lang="ru-RU" dirty="0"/>
              <a:t>«Покупка товара в интернет-магазине игрушек»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FCDD7-BDD9-B321-9A0E-6045FBCC1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44" y="1915380"/>
            <a:ext cx="6858912" cy="455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395" y="381217"/>
            <a:ext cx="8785208" cy="1188720"/>
          </a:xfrm>
        </p:spPr>
        <p:txBody>
          <a:bodyPr>
            <a:normAutofit/>
          </a:bodyPr>
          <a:lstStyle/>
          <a:p>
            <a:r>
              <a:rPr lang="ru-RU" dirty="0"/>
              <a:t>ДЕКОМПОЗИЦИЯ ДИАГРАММЫ </a:t>
            </a:r>
            <a:r>
              <a:rPr lang="en-US" dirty="0"/>
              <a:t>IDEF0 </a:t>
            </a:r>
            <a:r>
              <a:rPr lang="ru-RU" dirty="0"/>
              <a:t>(1ур.)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1BDC0816-E27F-B2FD-619B-87CF8CE30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5632" y="1733169"/>
            <a:ext cx="5840736" cy="484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9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13573" y="529264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Контекстная ДИАГРАММА DFD </a:t>
            </a:r>
            <a:br>
              <a:rPr lang="en-US" dirty="0"/>
            </a:br>
            <a:r>
              <a:rPr lang="ru-RU" dirty="0"/>
              <a:t>«Покупка товара в интернет-магазине игрушек»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868669-0DAC-CE4E-9B2E-FF60C427F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18" y="2162103"/>
            <a:ext cx="10579163" cy="41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5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825" y="2890680"/>
            <a:ext cx="5299602" cy="1076639"/>
          </a:xfrm>
        </p:spPr>
        <p:txBody>
          <a:bodyPr>
            <a:normAutofit fontScale="90000"/>
          </a:bodyPr>
          <a:lstStyle/>
          <a:p>
            <a:r>
              <a:rPr lang="ru-RU" dirty="0"/>
              <a:t>ДЕКОМПОЗИЦИЯ ДИАГРАММЫ </a:t>
            </a:r>
            <a:r>
              <a:rPr lang="en-US" dirty="0"/>
              <a:t>DFD</a:t>
            </a:r>
            <a:r>
              <a:rPr lang="ru-RU" dirty="0"/>
              <a:t> (1ур.)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2174AB7-E866-2003-43B6-D1B364437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5574" y="0"/>
            <a:ext cx="5440327" cy="682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0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9513" y="355092"/>
            <a:ext cx="7729728" cy="1188720"/>
          </a:xfrm>
        </p:spPr>
        <p:txBody>
          <a:bodyPr/>
          <a:lstStyle/>
          <a:p>
            <a:r>
              <a:rPr lang="ru-RU" dirty="0"/>
              <a:t>Техническое задание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78971" y="1958775"/>
            <a:ext cx="5573486" cy="4790367"/>
          </a:xfrm>
        </p:spPr>
        <p:txBody>
          <a:bodyPr>
            <a:normAutofit fontScale="40000" lnSpcReduction="20000"/>
          </a:bodyPr>
          <a:lstStyle/>
          <a:p>
            <a:pPr algn="l">
              <a:buNone/>
            </a:pPr>
            <a:r>
              <a:rPr lang="ru-RU" sz="4400" b="1" i="0" dirty="0">
                <a:solidFill>
                  <a:srgbClr val="1D1D1F"/>
                </a:solidFill>
                <a:effectLst/>
                <a:latin typeface="system-ui"/>
              </a:rPr>
              <a:t>Основная цель разработки ИС:</a:t>
            </a:r>
          </a:p>
          <a:p>
            <a:pPr algn="l" fontAlgn="t">
              <a:buNone/>
            </a:pPr>
            <a:r>
              <a:rPr lang="en-US" sz="4400" b="0" i="0" dirty="0">
                <a:solidFill>
                  <a:srgbClr val="1D1D1F"/>
                </a:solidFill>
                <a:effectLst/>
                <a:latin typeface="system-ui"/>
              </a:rPr>
              <a:t>	</a:t>
            </a: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Создание рабочей среды для управления интернет</a:t>
            </a:r>
            <a:r>
              <a:rPr lang="en-US" sz="4400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магазином игрушек с функциями хранения данных о товарах и клиентах, автоматизированной обработки заказов, управления складскими запасами, генерации сопроводительных документов и контроля выполнения заказов</a:t>
            </a:r>
            <a:r>
              <a:rPr lang="en-US" sz="4400" b="0" i="0" dirty="0">
                <a:solidFill>
                  <a:srgbClr val="1D1D1F"/>
                </a:solidFill>
                <a:effectLst/>
                <a:latin typeface="system-ui"/>
              </a:rPr>
              <a:t>.</a:t>
            </a:r>
            <a:endParaRPr lang="en-US" sz="4400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ru-RU" sz="4400" b="1" i="0" dirty="0">
                <a:solidFill>
                  <a:srgbClr val="1D1D1F"/>
                </a:solidFill>
                <a:effectLst/>
                <a:latin typeface="system-ui"/>
              </a:rPr>
              <a:t>Этапы разработки: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Анализ требований и согласование архитектуры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Разработка БД и UI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Программная реализация серверной и клиентской частей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Настройка модулей управления каталогом, корзиной и внешней интеграции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Разработка документации и эксплуатация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74377" y="1958775"/>
            <a:ext cx="5704114" cy="4302689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ru-RU" sz="4200" b="1" dirty="0"/>
              <a:t>Функциональные требования:</a:t>
            </a:r>
            <a:r>
              <a:rPr lang="ru-RU" sz="4200" dirty="0"/>
              <a:t> </a:t>
            </a:r>
          </a:p>
          <a:p>
            <a:pPr algn="just"/>
            <a:r>
              <a:rPr lang="ru-RU" sz="4200" dirty="0"/>
              <a:t>Авторизация и ролевая модель доступа  </a:t>
            </a:r>
          </a:p>
          <a:p>
            <a:r>
              <a:rPr lang="ru-RU" sz="4400" i="0" dirty="0">
                <a:solidFill>
                  <a:srgbClr val="1D1D1F"/>
                </a:solidFill>
                <a:effectLst/>
                <a:latin typeface="system-ui"/>
              </a:rPr>
              <a:t>CRUD-операции</a:t>
            </a: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 с товарами (игрушки), категориями, клиентами и заказами</a:t>
            </a:r>
          </a:p>
          <a:p>
            <a:pPr algn="just"/>
            <a:r>
              <a:rPr lang="ru-RU" sz="4500" dirty="0"/>
              <a:t>Загрузка и автоматическая оптимизация фото товаров с возможностью просмотра в высоком разрешении </a:t>
            </a:r>
            <a:endParaRPr lang="en-US" sz="45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i="0" dirty="0">
                <a:solidFill>
                  <a:srgbClr val="1D1D1F"/>
                </a:solidFill>
                <a:effectLst/>
                <a:latin typeface="system-ui"/>
              </a:rPr>
              <a:t>Управление каталогом с фильтрами по возрасту, производителю, категории безопасности, цене</a:t>
            </a:r>
          </a:p>
          <a:p>
            <a:pPr algn="just"/>
            <a:r>
              <a:rPr lang="ru-RU" sz="4400" i="0" dirty="0">
                <a:solidFill>
                  <a:srgbClr val="1D1D1F"/>
                </a:solidFill>
                <a:effectLst/>
                <a:latin typeface="system-ui"/>
              </a:rPr>
              <a:t>Корзина и оформление заказа </a:t>
            </a: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с выбором способа доставки и оплаты </a:t>
            </a:r>
            <a:endParaRPr lang="en-US" sz="4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just"/>
            <a:r>
              <a:rPr lang="ru-RU" sz="4400" i="0" dirty="0">
                <a:solidFill>
                  <a:srgbClr val="1D1D1F"/>
                </a:solidFill>
                <a:effectLst/>
                <a:latin typeface="system-ui"/>
              </a:rPr>
              <a:t>Интеграция с платежными системами </a:t>
            </a:r>
            <a:r>
              <a:rPr lang="ru-RU" sz="4400" b="0" i="0" dirty="0">
                <a:solidFill>
                  <a:srgbClr val="1D1D1F"/>
                </a:solidFill>
                <a:effectLst/>
                <a:latin typeface="system-ui"/>
              </a:rPr>
              <a:t>и службами доставки </a:t>
            </a:r>
            <a:endParaRPr lang="en-US" sz="4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4400" i="0" dirty="0">
                <a:solidFill>
                  <a:srgbClr val="1D1D1F"/>
                </a:solidFill>
                <a:effectLst/>
                <a:latin typeface="system-ui"/>
              </a:rPr>
              <a:t>Системное логирование действий и </a:t>
            </a:r>
            <a:r>
              <a:rPr lang="ru-RU" sz="4400" i="0" dirty="0" err="1">
                <a:solidFill>
                  <a:srgbClr val="1D1D1F"/>
                </a:solidFill>
                <a:effectLst/>
                <a:latin typeface="system-ui"/>
              </a:rPr>
              <a:t>push</a:t>
            </a:r>
            <a:r>
              <a:rPr lang="ru-RU" sz="4400" i="0" dirty="0">
                <a:solidFill>
                  <a:srgbClr val="1D1D1F"/>
                </a:solidFill>
                <a:effectLst/>
                <a:latin typeface="system-ui"/>
              </a:rPr>
              <a:t>/</a:t>
            </a:r>
            <a:r>
              <a:rPr lang="ru-RU" sz="4400" i="0" dirty="0" err="1">
                <a:solidFill>
                  <a:srgbClr val="1D1D1F"/>
                </a:solidFill>
                <a:effectLst/>
                <a:latin typeface="system-ui"/>
              </a:rPr>
              <a:t>email</a:t>
            </a:r>
            <a:r>
              <a:rPr lang="ru-RU" sz="4400" i="0" dirty="0">
                <a:solidFill>
                  <a:srgbClr val="1D1D1F"/>
                </a:solidFill>
                <a:effectLst/>
                <a:latin typeface="system-ui"/>
              </a:rPr>
              <a:t>-уведомления о статусе заказа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4985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2221" y="2834640"/>
            <a:ext cx="5489448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UML диаграмма вариантов использования (</a:t>
            </a:r>
            <a:r>
              <a:rPr lang="ru-RU" dirty="0" err="1"/>
              <a:t>UseCase</a:t>
            </a:r>
            <a:r>
              <a:rPr lang="ru-RU" dirty="0"/>
              <a:t>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58D1757-9A8D-FE98-9B7C-FE01E57E6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0331" y="-1508"/>
            <a:ext cx="5655845" cy="685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0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507" y="2814575"/>
            <a:ext cx="4486656" cy="1141497"/>
          </a:xfrm>
        </p:spPr>
        <p:txBody>
          <a:bodyPr>
            <a:normAutofit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деятельности (</a:t>
            </a:r>
            <a:r>
              <a:rPr lang="en-US" dirty="0"/>
              <a:t>Activity)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FCA4710-A08A-9F3E-C638-16C6FC9A2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8296" y="0"/>
            <a:ext cx="5928360" cy="683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3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44214" y="2858250"/>
            <a:ext cx="4486656" cy="1141497"/>
          </a:xfrm>
        </p:spPr>
        <p:txBody>
          <a:bodyPr>
            <a:normAutofit fontScale="90000"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последовательности (</a:t>
            </a:r>
            <a:r>
              <a:rPr lang="en-US" dirty="0"/>
              <a:t>Sequence)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876B9E-24D6-52CD-48CD-C0D0A2043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10" y="0"/>
            <a:ext cx="3820014" cy="686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72509"/>
            <a:ext cx="7729728" cy="1188720"/>
          </a:xfrm>
        </p:spPr>
        <p:txBody>
          <a:bodyPr/>
          <a:lstStyle/>
          <a:p>
            <a:r>
              <a:rPr lang="en-US" dirty="0"/>
              <a:t>UML </a:t>
            </a:r>
            <a:r>
              <a:rPr lang="ru-RU" dirty="0"/>
              <a:t>диаграмма классов (</a:t>
            </a:r>
            <a:r>
              <a:rPr lang="en-US" dirty="0"/>
              <a:t>Class)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A29642F-7DA7-4547-6033-8A05E6D77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976" y="1691449"/>
            <a:ext cx="7242047" cy="495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32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433469"/>
            <a:ext cx="7729728" cy="1188720"/>
          </a:xfrm>
        </p:spPr>
        <p:txBody>
          <a:bodyPr/>
          <a:lstStyle/>
          <a:p>
            <a:r>
              <a:rPr lang="ru-RU" dirty="0"/>
              <a:t>ЛОГИЧЕСКАЯ МОДЕЛЬ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0D810ED-3DCC-CD0B-C0EA-9A48B1BDA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9469" y="1838465"/>
            <a:ext cx="7549955" cy="469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94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5" y="578294"/>
            <a:ext cx="7729728" cy="1188720"/>
          </a:xfrm>
        </p:spPr>
        <p:txBody>
          <a:bodyPr/>
          <a:lstStyle/>
          <a:p>
            <a:r>
              <a:rPr lang="ru-RU" dirty="0"/>
              <a:t>АНАЛИТИЧЕСКИЕ ЗАПРОСЫ К БАЗЕ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5" y="1927653"/>
            <a:ext cx="7729728" cy="407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Фильтрация игрушек по типу и бюджету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0CD6F3-8AE4-5AF0-D67C-4056E3A25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822" y="2641911"/>
            <a:ext cx="8944356" cy="339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42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5" y="510436"/>
            <a:ext cx="7729728" cy="1188720"/>
          </a:xfrm>
        </p:spPr>
        <p:txBody>
          <a:bodyPr/>
          <a:lstStyle/>
          <a:p>
            <a:r>
              <a:rPr lang="ru-RU" dirty="0"/>
              <a:t>АНАЛИТИЧЕСКИЕ ЗАПРОСЫ К БАЗЕ ДАННЫХ</a:t>
            </a:r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2231135" y="1853514"/>
            <a:ext cx="7729728" cy="531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Расчёт средней рыночной стоимости по категориям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D3A526-76AE-CCB2-53A8-D3D69681D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408" y="2384652"/>
            <a:ext cx="8081183" cy="396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67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6" y="1969903"/>
            <a:ext cx="7234397" cy="439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Проверка </a:t>
            </a:r>
            <a:r>
              <a:rPr lang="ru-RU" sz="2000" dirty="0" err="1"/>
              <a:t>заполненности</a:t>
            </a:r>
            <a:r>
              <a:rPr lang="ru-RU" sz="2000" dirty="0"/>
              <a:t> паспортных данных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6" y="615120"/>
            <a:ext cx="7729728" cy="1188720"/>
          </a:xfrm>
        </p:spPr>
        <p:txBody>
          <a:bodyPr/>
          <a:lstStyle/>
          <a:p>
            <a:r>
              <a:rPr lang="ru-RU" dirty="0"/>
              <a:t>Проверочные ЗАПРОСЫ К БАЗЕ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9616C1-F431-A5ED-1BA3-1DDBE6C3C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616" y="2552851"/>
            <a:ext cx="6934767" cy="379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62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424760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EAA885-6213-21CF-AB02-46FE44D1D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36" y="2023518"/>
            <a:ext cx="7729727" cy="418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78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6" y="608700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73CFA52-47A5-B446-F465-8C3B43CC0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47" y="2530729"/>
            <a:ext cx="5781818" cy="27453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DED688-0858-0678-7139-204B17413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071" y="2265934"/>
            <a:ext cx="5940425" cy="41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92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1984" y="458065"/>
            <a:ext cx="7729728" cy="1188720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8097" y="1902941"/>
            <a:ext cx="9316995" cy="4522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ea typeface="Times New Roman" panose="02020603050405020304" pitchFamily="18" charset="0"/>
              </a:rPr>
              <a:t>	</a:t>
            </a:r>
            <a:r>
              <a:rPr lang="ru-RU" sz="2000" dirty="0"/>
              <a:t> В заключение курсового проекта по теме «Проектирование ИС «Интернет-магазин игрушек»» можно утверждать, что была разработана система, предоставляющая возможность управления каталогом товаров, обработки заказов клиентов, ведения учета складских запасов, генерации сопроводительных документов и контроля выполнения заказов с использованием информационной системы.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ru-RU" sz="2000" dirty="0"/>
              <a:t>Разработка этой информационной системы представляет собой важный шаг в сфере розничной торговли детскими товарами, обеспечивая удобный и доступный способ ведения учета товаров, клиентов, заказов, а также обеспечивает устойчивое конкурентное преимущество, снижение операционных издержек, автоматизацию бизнес-процессов и переход к клиентоориентированной модели обслуживания с возможностью персонализированных рекомендаций и программ лояльности.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1814063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248553" y="2697698"/>
            <a:ext cx="7729728" cy="118872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59134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177</TotalTime>
  <Words>778</Words>
  <Application>Microsoft Office PowerPoint</Application>
  <PresentationFormat>Широкоэкранный</PresentationFormat>
  <Paragraphs>78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Arial</vt:lpstr>
      <vt:lpstr>Calibri</vt:lpstr>
      <vt:lpstr>Corbel</vt:lpstr>
      <vt:lpstr>Gill Sans MT</vt:lpstr>
      <vt:lpstr>system-ui</vt:lpstr>
      <vt:lpstr>Times New Roman</vt:lpstr>
      <vt:lpstr>Parcel</vt:lpstr>
      <vt:lpstr>Презентация PowerPoint</vt:lpstr>
      <vt:lpstr>Описание предметной области</vt:lpstr>
      <vt:lpstr>Проблематика</vt:lpstr>
      <vt:lpstr>Цели и задачи</vt:lpstr>
      <vt:lpstr>Объект и предмет исследования</vt:lpstr>
      <vt:lpstr>Контекстная  Диаграмма idef0 «Покупка товара в интернет-магазине игрушек»</vt:lpstr>
      <vt:lpstr>ДЕКОМПОЗИЦИЯ ДИАГРАММЫ IDEF0 (1ур.)</vt:lpstr>
      <vt:lpstr>Контекстная ДИАГРАММА DFD  «Покупка товара в интернет-магазине игрушек»</vt:lpstr>
      <vt:lpstr>ДЕКОМПОЗИЦИЯ ДИАГРАММЫ DFD (1ур.)</vt:lpstr>
      <vt:lpstr>Техническое задание</vt:lpstr>
      <vt:lpstr>UML диаграмма вариантов использования (UseCase)</vt:lpstr>
      <vt:lpstr>UML диаграмма деятельности (Activity)</vt:lpstr>
      <vt:lpstr>UML диаграмма последовательности (Sequence)</vt:lpstr>
      <vt:lpstr>UML диаграмма классов (Class)</vt:lpstr>
      <vt:lpstr>ЛОГИЧЕСКАЯ МОДЕЛЬ ДАННЫХ</vt:lpstr>
      <vt:lpstr>АНАЛИТИЧЕСКИЕ ЗАПРОСЫ К БАЗЕ ДАННЫХ</vt:lpstr>
      <vt:lpstr>АНАЛИТИЧЕСКИЕ ЗАПРОСЫ К БАЗЕ ДАННЫХ</vt:lpstr>
      <vt:lpstr>Проверочные ЗАПРОСЫ К БАЗЕ ДАННЫХ</vt:lpstr>
      <vt:lpstr>ПОЛЬЗОВАТЕЛЬСКИЙ ИНТЕРФЕЙС</vt:lpstr>
      <vt:lpstr>ПОЛЬЗОВАТЕЛЬСКИЙ ИНТЕРФЕЙС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Ryzen</cp:lastModifiedBy>
  <cp:revision>19</cp:revision>
  <dcterms:created xsi:type="dcterms:W3CDTF">2026-05-05T04:42:58Z</dcterms:created>
  <dcterms:modified xsi:type="dcterms:W3CDTF">2026-05-06T18:53:37Z</dcterms:modified>
</cp:coreProperties>
</file>