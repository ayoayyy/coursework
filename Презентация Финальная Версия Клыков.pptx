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0" r:id="rId17"/>
    <p:sldId id="279" r:id="rId18"/>
    <p:sldId id="271" r:id="rId19"/>
    <p:sldId id="273" r:id="rId20"/>
    <p:sldId id="272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AF0FC6-D54B-43DE-AFEC-1A5D1AFFC0A7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1824B-9FB3-4666-A544-E6F760165A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5682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F1824B-9FB3-4666-A544-E6F760165AEB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437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354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179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98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93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885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926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683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520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299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009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307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C173D2E2-2307-4CAE-AE0F-A325FD4D4B3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06805879-CE2A-4109-9FD2-9B040EBAC7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241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1571722" y="2469368"/>
            <a:ext cx="9144000" cy="14426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Курсовой проект</a:t>
            </a:r>
            <a:br>
              <a:rPr lang="ru-RU" sz="3600" dirty="0"/>
            </a:br>
            <a:r>
              <a:rPr lang="ru-RU" sz="3600" dirty="0"/>
              <a:t>на тему «Проектирование ИС «Интернет-магазин игрушек»»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6996392" y="4274194"/>
            <a:ext cx="4850296" cy="16517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Выполнил: Клыков Д.А.,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студент 2 курса очной формы обучения,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группы ИСиП 24-9-1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Проверила: Гончарова Т.В., должность: преподаватель проф. дисциплин</a:t>
            </a:r>
          </a:p>
          <a:p>
            <a:endParaRPr lang="ru-RU" sz="18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53143" y="303793"/>
            <a:ext cx="1098731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/>
              <a:t>ГОСУДАРСТВЕННОЕ АВТОНОМНОЕ ПРОФЕССИОНАЛЬНОЕ ОБРАЗОВАТЕЛЬНОЕ </a:t>
            </a:r>
          </a:p>
          <a:p>
            <a:pPr algn="ctr"/>
            <a:r>
              <a:rPr lang="ru-RU" sz="2000" dirty="0"/>
              <a:t>УЧРЕЖДЕНИЕ  ТЮМЕНСКОЙ ОБЛАСТИ </a:t>
            </a:r>
          </a:p>
          <a:p>
            <a:pPr algn="ctr"/>
            <a:r>
              <a:rPr lang="ru-RU" sz="2000" dirty="0"/>
              <a:t>«ТЮМЕНСКИЙ ТЕХНИКУМ СТРОИТЕЛЬНОЙ ИНДУСТРИИ И ГОРОДСКОГО ХОЗЯЙСТВА»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096801" y="6288156"/>
            <a:ext cx="20938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>
                <a:latin typeface="+mj-lt"/>
              </a:rPr>
              <a:t>г. Тюмень, 2026 г.</a:t>
            </a:r>
          </a:p>
        </p:txBody>
      </p:sp>
    </p:spTree>
    <p:extLst>
      <p:ext uri="{BB962C8B-B14F-4D97-AF65-F5344CB8AC3E}">
        <p14:creationId xmlns:p14="http://schemas.microsoft.com/office/powerpoint/2010/main" val="1410910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5431" y="668600"/>
            <a:ext cx="7729728" cy="785731"/>
          </a:xfrm>
        </p:spPr>
        <p:txBody>
          <a:bodyPr/>
          <a:lstStyle/>
          <a:p>
            <a:r>
              <a:rPr lang="ru-RU" dirty="0"/>
              <a:t>Описание предметной области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9726" y="1706881"/>
            <a:ext cx="7801138" cy="4311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Интернет-магазин игрушек – это компания, осуществляющая розничную торговлю игрушками, играми и товарами для детей через интернет-платформу с доставкой покупателю.</a:t>
            </a:r>
          </a:p>
          <a:p>
            <a:pPr marL="0" indent="0">
              <a:buNone/>
            </a:pPr>
            <a:r>
              <a:rPr lang="ru-RU" sz="2000" dirty="0"/>
              <a:t>Основные бизнес-процессы:</a:t>
            </a:r>
          </a:p>
          <a:p>
            <a:r>
              <a:rPr lang="ru-RU" dirty="0"/>
              <a:t>Ведение каталога товаров (игрушки, настольные игры, конструкторы, мягкие игрушки, развивающие игры)</a:t>
            </a:r>
          </a:p>
          <a:p>
            <a:r>
              <a:rPr lang="ru-RU" dirty="0"/>
              <a:t>Оформление заказов покупателей</a:t>
            </a:r>
          </a:p>
          <a:p>
            <a:r>
              <a:rPr lang="ru-RU" dirty="0"/>
              <a:t>Организация доставки (курьерская служба, пункты выдачи, почта)</a:t>
            </a:r>
          </a:p>
          <a:p>
            <a:r>
              <a:rPr lang="ru-RU" dirty="0"/>
              <a:t>Консультирование покупателей по ассортименту</a:t>
            </a:r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6880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60013" y="781811"/>
            <a:ext cx="7932637" cy="968611"/>
          </a:xfrm>
        </p:spPr>
        <p:txBody>
          <a:bodyPr/>
          <a:lstStyle/>
          <a:p>
            <a:r>
              <a:rPr lang="ru-RU" dirty="0"/>
              <a:t>Проблематика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29681" y="2054571"/>
            <a:ext cx="7932637" cy="3597292"/>
          </a:xfrm>
        </p:spPr>
        <p:txBody>
          <a:bodyPr>
            <a:noAutofit/>
          </a:bodyPr>
          <a:lstStyle/>
          <a:p>
            <a:r>
              <a:rPr lang="ru-RU" dirty="0"/>
              <a:t>Ручной ввод данных (ошибки в оформлении заказов, неверные адреса доставки, опечатки в контактных данных клиентов)</a:t>
            </a:r>
          </a:p>
          <a:p>
            <a:r>
              <a:rPr lang="ru-RU" dirty="0"/>
              <a:t>Дублирование операций (многоразовое обновление остатков товаров на разных площадках, ручное обновление цен и ассортимента)</a:t>
            </a:r>
          </a:p>
          <a:p>
            <a:r>
              <a:rPr lang="ru-RU" dirty="0"/>
              <a:t>Отсутствие единой базы (сложно отследить наличие товаров на складе, низкая прозрачность складских запасов, трудный поиск нужных игрушек по категориям и производителям)</a:t>
            </a:r>
          </a:p>
          <a:p>
            <a:r>
              <a:rPr lang="ru-RU" dirty="0"/>
              <a:t>Нет системы уведомлений (риск пропустить новый заказ, забыть отправить клиенту информацию о доставке, упустить сроки пополнения популярных товаров)</a:t>
            </a:r>
          </a:p>
          <a:p>
            <a:r>
              <a:rPr lang="ru-RU" dirty="0"/>
              <a:t>Ручное управление ассортиментом (сложно отслеживать сезонный спрос, новинки и устаревающие позиции, отсутствие аналитики продаж)</a:t>
            </a:r>
          </a:p>
          <a:p>
            <a:pPr marL="0" indent="0">
              <a:buNone/>
            </a:pPr>
            <a:br>
              <a:rPr lang="ru-RU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3597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3451" y="781813"/>
            <a:ext cx="7729728" cy="1188720"/>
          </a:xfrm>
        </p:spPr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97546" y="2289049"/>
            <a:ext cx="4592466" cy="406755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1" dirty="0"/>
              <a:t>Цель проекта:</a:t>
            </a:r>
          </a:p>
          <a:p>
            <a:pPr marL="0" indent="0">
              <a:buNone/>
            </a:pPr>
            <a:r>
              <a:rPr lang="ru-RU" sz="2000" dirty="0"/>
              <a:t>Проектирование и программная реализация системы интернет-магазина игрушек для автоматизации торговых операций, управления складскими запасами, ускорения обработки заказов и интеграции с платежными системами и службами доставки.</a:t>
            </a:r>
            <a:endParaRPr lang="ru-RU" sz="2400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4990012" y="2289049"/>
            <a:ext cx="7132320" cy="36808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1" dirty="0"/>
              <a:t>Задачи:</a:t>
            </a:r>
            <a:endParaRPr lang="ru-RU" sz="2000" dirty="0"/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Провести анализ предметной области электронной коммерции и обосновать необходимость автоматизации.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Разработать функциональные требования и смоделировать процессы (закупка, продажа, логистика).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Спроектировать структуру нормализованной реляционной базы данных (каталог, заказы, клиенты).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Выбрать оптимальный стек технологий для разработки веб-приложения.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Разработать эргономичный пользовательский интерфейс (витрина для покупателей и админ-панель).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Реализовать модули каталога, корзины, оформления заказов и складского учета.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1600" dirty="0"/>
              <a:t>Создать руководство пользователя для администраторов магазина.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8633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Объект 9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Объект исследования:</a:t>
            </a:r>
          </a:p>
        </p:txBody>
      </p:sp>
      <p:sp>
        <p:nvSpPr>
          <p:cNvPr id="12" name="Объект 11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Бизнес-процессы интернет-магазина игрушек, связанные с управлением ассортиментом и складскими запасами, обработкой заказов клиентов, организацией доставки, учетом возрастных категорий и категорий безопасности товаров, управлением поставщиками, а также поддержкой клиентских отношений и программ лояльности.</a:t>
            </a:r>
          </a:p>
        </p:txBody>
      </p:sp>
      <p:sp>
        <p:nvSpPr>
          <p:cNvPr id="13" name="Объект 12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416770" cy="25967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Информационная CRM-система для интернет-магазина игрушек, методы проектирования баз данных каталога товаров с фильтрами по возрасту, производителю и категориям безопасности, алгоритмы автоматизации процессов оформления заказов, управления складом и персонализированных рекомендаций для родителей.</a:t>
            </a:r>
          </a:p>
        </p:txBody>
      </p:sp>
      <p:sp>
        <p:nvSpPr>
          <p:cNvPr id="14" name="Текст 1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Предмет исследования: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 и предмет исследования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3442771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389927"/>
            <a:ext cx="7729728" cy="1188720"/>
          </a:xfrm>
        </p:spPr>
        <p:txBody>
          <a:bodyPr>
            <a:normAutofit fontScale="90000"/>
          </a:bodyPr>
          <a:lstStyle/>
          <a:p>
            <a:r>
              <a:rPr lang="ru-RU" dirty="0"/>
              <a:t>Контекстная </a:t>
            </a:r>
            <a:r>
              <a:rPr lang="en-US" dirty="0"/>
              <a:t> </a:t>
            </a:r>
            <a:r>
              <a:rPr lang="ru-RU" dirty="0"/>
              <a:t>Диаграмма </a:t>
            </a:r>
            <a:r>
              <a:rPr lang="en-US" dirty="0"/>
              <a:t>idef0 </a:t>
            </a:r>
            <a:r>
              <a:rPr lang="ru-RU" dirty="0"/>
              <a:t>«Покупка товара в интернет-магазине игрушек»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18FCDD7-BDD9-B321-9A0E-6045FBCC1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544" y="1915380"/>
            <a:ext cx="6858912" cy="45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90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03395" y="381217"/>
            <a:ext cx="8785208" cy="1188720"/>
          </a:xfrm>
        </p:spPr>
        <p:txBody>
          <a:bodyPr>
            <a:normAutofit/>
          </a:bodyPr>
          <a:lstStyle/>
          <a:p>
            <a:r>
              <a:rPr lang="ru-RU" dirty="0"/>
              <a:t>ДЕКОМПОЗИЦИЯ ДИАГРАММЫ </a:t>
            </a:r>
            <a:r>
              <a:rPr lang="en-US" dirty="0"/>
              <a:t>IDEF0 </a:t>
            </a:r>
            <a:r>
              <a:rPr lang="ru-RU" dirty="0"/>
              <a:t>(1ур.)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BDC0816-E27F-B2FD-619B-87CF8CE30E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5632" y="1733169"/>
            <a:ext cx="5840736" cy="484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991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13573" y="529264"/>
            <a:ext cx="7729728" cy="1188720"/>
          </a:xfrm>
        </p:spPr>
        <p:txBody>
          <a:bodyPr>
            <a:normAutofit fontScale="90000"/>
          </a:bodyPr>
          <a:lstStyle/>
          <a:p>
            <a:r>
              <a:rPr lang="ru-RU" dirty="0"/>
              <a:t>Контекстная ДИАГРАММА DFD </a:t>
            </a:r>
            <a:br>
              <a:rPr lang="en-US" dirty="0"/>
            </a:br>
            <a:r>
              <a:rPr lang="ru-RU" dirty="0"/>
              <a:t>«Покупка товара в интернет-магазине игрушек»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E868669-0DAC-CE4E-9B2E-FF60C427F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18" y="2162103"/>
            <a:ext cx="10579163" cy="41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657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825" y="2890680"/>
            <a:ext cx="5299602" cy="1076639"/>
          </a:xfrm>
        </p:spPr>
        <p:txBody>
          <a:bodyPr>
            <a:normAutofit fontScale="90000"/>
          </a:bodyPr>
          <a:lstStyle/>
          <a:p>
            <a:r>
              <a:rPr lang="ru-RU" dirty="0"/>
              <a:t>ДЕКОМПОЗИЦИЯ ДИАГРАММЫ </a:t>
            </a:r>
            <a:r>
              <a:rPr lang="en-US" dirty="0"/>
              <a:t>DFD</a:t>
            </a:r>
            <a:r>
              <a:rPr lang="ru-RU" dirty="0"/>
              <a:t> (1ур.)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62174AB7-E866-2003-43B6-D1B364437C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5574" y="0"/>
            <a:ext cx="5440327" cy="6825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06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09513" y="355092"/>
            <a:ext cx="7729728" cy="1188720"/>
          </a:xfrm>
        </p:spPr>
        <p:txBody>
          <a:bodyPr/>
          <a:lstStyle/>
          <a:p>
            <a:r>
              <a:rPr lang="ru-RU" dirty="0"/>
              <a:t>Техническое задание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478971" y="1958775"/>
            <a:ext cx="5573486" cy="4790367"/>
          </a:xfrm>
        </p:spPr>
        <p:txBody>
          <a:bodyPr>
            <a:normAutofit fontScale="40000" lnSpcReduction="20000"/>
          </a:bodyPr>
          <a:lstStyle/>
          <a:p>
            <a:pPr algn="l">
              <a:buNone/>
            </a:pPr>
            <a:r>
              <a:rPr lang="ru-RU" sz="4400" b="1" i="0" dirty="0">
                <a:solidFill>
                  <a:srgbClr val="1D1D1F"/>
                </a:solidFill>
                <a:effectLst/>
                <a:latin typeface="system-ui"/>
              </a:rPr>
              <a:t>Основная цель разработки ИС:</a:t>
            </a:r>
          </a:p>
          <a:p>
            <a:pPr algn="l" fontAlgn="t">
              <a:buNone/>
            </a:pPr>
            <a:r>
              <a:rPr lang="en-US" sz="4400" b="0" i="0" dirty="0">
                <a:solidFill>
                  <a:srgbClr val="1D1D1F"/>
                </a:solidFill>
                <a:effectLst/>
                <a:latin typeface="system-ui"/>
              </a:rPr>
              <a:t>	</a:t>
            </a: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Создание рабочей среды для управления интернет</a:t>
            </a:r>
            <a:r>
              <a:rPr lang="en-US" sz="4400" b="0" i="0" dirty="0">
                <a:solidFill>
                  <a:srgbClr val="1D1D1F"/>
                </a:solidFill>
                <a:effectLst/>
                <a:latin typeface="system-ui"/>
              </a:rPr>
              <a:t> </a:t>
            </a: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магазином игрушек с функциями хранения данных о товарах и клиентах, автоматизированной обработки заказов, управления складскими запасами, генерации сопроводительных документов и контроля выполнения заказов</a:t>
            </a:r>
            <a:r>
              <a:rPr lang="en-US" sz="4400" b="0" i="0" dirty="0">
                <a:solidFill>
                  <a:srgbClr val="1D1D1F"/>
                </a:solidFill>
                <a:effectLst/>
                <a:latin typeface="system-ui"/>
              </a:rPr>
              <a:t>.</a:t>
            </a:r>
            <a:endParaRPr lang="en-US" sz="4400" b="1" i="0" dirty="0">
              <a:solidFill>
                <a:srgbClr val="1D1D1F"/>
              </a:solidFill>
              <a:effectLst/>
              <a:latin typeface="system-ui"/>
            </a:endParaRPr>
          </a:p>
          <a:p>
            <a:pPr algn="l">
              <a:buNone/>
            </a:pPr>
            <a:r>
              <a:rPr lang="ru-RU" sz="4400" b="1" i="0" dirty="0">
                <a:solidFill>
                  <a:srgbClr val="1D1D1F"/>
                </a:solidFill>
                <a:effectLst/>
                <a:latin typeface="system-ui"/>
              </a:rPr>
              <a:t>Этапы разработки: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Анализ требований и согласование архитектуры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Разработка БД и UI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Программная реализация серверной и клиентской частей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Настройка модулей управления каталогом, корзиной и внешней интеграции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Разработка документации и эксплуатация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4377" y="1958775"/>
            <a:ext cx="5704114" cy="4302689"/>
          </a:xfrm>
        </p:spPr>
        <p:txBody>
          <a:bodyPr>
            <a:normAutofit fontScale="40000" lnSpcReduction="20000"/>
          </a:bodyPr>
          <a:lstStyle/>
          <a:p>
            <a:pPr marL="0" indent="0" algn="just">
              <a:buNone/>
            </a:pPr>
            <a:r>
              <a:rPr lang="ru-RU" sz="4200" b="1" dirty="0"/>
              <a:t>Функциональные требования:</a:t>
            </a:r>
            <a:r>
              <a:rPr lang="ru-RU" sz="4200" dirty="0"/>
              <a:t> </a:t>
            </a:r>
          </a:p>
          <a:p>
            <a:pPr algn="just"/>
            <a:r>
              <a:rPr lang="ru-RU" sz="4200" dirty="0"/>
              <a:t>Авторизация и ролевая модель доступа  </a:t>
            </a:r>
          </a:p>
          <a:p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CRUD-операции</a:t>
            </a: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 с товарами (игрушки), категориями, клиентами и заказами</a:t>
            </a:r>
          </a:p>
          <a:p>
            <a:pPr algn="just"/>
            <a:r>
              <a:rPr lang="ru-RU" sz="4500" dirty="0"/>
              <a:t>Загрузка и автоматическая оптимизация фото товаров с возможностью просмотра в высоком разрешении </a:t>
            </a:r>
            <a:endParaRPr lang="en-US" sz="45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Управление каталогом с фильтрами по возрасту, производителю, категории безопасности, цене</a:t>
            </a:r>
          </a:p>
          <a:p>
            <a:pPr algn="just"/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Корзина и оформление заказа </a:t>
            </a: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с выбором способа доставки и оплаты </a:t>
            </a:r>
            <a:endParaRPr lang="en-US" sz="4400" b="0" i="0" dirty="0">
              <a:solidFill>
                <a:srgbClr val="1D1D1F"/>
              </a:solidFill>
              <a:effectLst/>
              <a:latin typeface="system-ui"/>
            </a:endParaRPr>
          </a:p>
          <a:p>
            <a:pPr algn="just"/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Интеграция с платежными системами </a:t>
            </a:r>
            <a:r>
              <a:rPr lang="ru-RU" sz="4400" b="0" i="0" dirty="0">
                <a:solidFill>
                  <a:srgbClr val="1D1D1F"/>
                </a:solidFill>
                <a:effectLst/>
                <a:latin typeface="system-ui"/>
              </a:rPr>
              <a:t>и службами доставки </a:t>
            </a:r>
            <a:endParaRPr lang="en-US" sz="4400" b="0" i="0" dirty="0">
              <a:solidFill>
                <a:srgbClr val="1D1D1F"/>
              </a:solidFill>
              <a:effectLst/>
              <a:latin typeface="system-u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Системное логирование действий и </a:t>
            </a:r>
            <a:r>
              <a:rPr lang="ru-RU" sz="4400" i="0" dirty="0" err="1">
                <a:solidFill>
                  <a:srgbClr val="1D1D1F"/>
                </a:solidFill>
                <a:effectLst/>
                <a:latin typeface="system-ui"/>
              </a:rPr>
              <a:t>push</a:t>
            </a:r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/</a:t>
            </a:r>
            <a:r>
              <a:rPr lang="ru-RU" sz="4400" i="0" dirty="0" err="1">
                <a:solidFill>
                  <a:srgbClr val="1D1D1F"/>
                </a:solidFill>
                <a:effectLst/>
                <a:latin typeface="system-ui"/>
              </a:rPr>
              <a:t>email</a:t>
            </a:r>
            <a:r>
              <a:rPr lang="ru-RU" sz="4400" i="0" dirty="0">
                <a:solidFill>
                  <a:srgbClr val="1D1D1F"/>
                </a:solidFill>
                <a:effectLst/>
                <a:latin typeface="system-ui"/>
              </a:rPr>
              <a:t>-уведомления о статусе заказа</a:t>
            </a:r>
          </a:p>
          <a:p>
            <a:pPr marL="0" indent="0">
              <a:buNone/>
            </a:pP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349850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2221" y="2834640"/>
            <a:ext cx="5489448" cy="1188720"/>
          </a:xfrm>
        </p:spPr>
        <p:txBody>
          <a:bodyPr>
            <a:normAutofit fontScale="90000"/>
          </a:bodyPr>
          <a:lstStyle/>
          <a:p>
            <a:r>
              <a:rPr lang="ru-RU" dirty="0"/>
              <a:t>UML диаграмма вариантов использования (</a:t>
            </a:r>
            <a:r>
              <a:rPr lang="ru-RU" dirty="0" err="1"/>
              <a:t>UseCase</a:t>
            </a:r>
            <a:r>
              <a:rPr lang="ru-RU" dirty="0"/>
              <a:t>)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858D1757-9A8D-FE98-9B7C-FE01E57E6E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0331" y="-1508"/>
            <a:ext cx="5655845" cy="6859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01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507" y="2814575"/>
            <a:ext cx="4486656" cy="1141497"/>
          </a:xfrm>
        </p:spPr>
        <p:txBody>
          <a:bodyPr>
            <a:normAutofit/>
          </a:bodyPr>
          <a:lstStyle/>
          <a:p>
            <a:r>
              <a:rPr lang="en-US" dirty="0"/>
              <a:t>UML </a:t>
            </a:r>
            <a:r>
              <a:rPr lang="ru-RU" dirty="0"/>
              <a:t>диаграмма деятельности (</a:t>
            </a:r>
            <a:r>
              <a:rPr lang="en-US" dirty="0"/>
              <a:t>Activity)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EFCA4710-A08A-9F3E-C638-16C6FC9A2C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78296" y="0"/>
            <a:ext cx="5928360" cy="683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139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944214" y="2858250"/>
            <a:ext cx="4486656" cy="1141497"/>
          </a:xfrm>
        </p:spPr>
        <p:txBody>
          <a:bodyPr>
            <a:normAutofit fontScale="90000"/>
          </a:bodyPr>
          <a:lstStyle/>
          <a:p>
            <a:r>
              <a:rPr lang="en-US" dirty="0"/>
              <a:t>UML </a:t>
            </a:r>
            <a:r>
              <a:rPr lang="ru-RU" dirty="0"/>
              <a:t>диаграмма последовательности (</a:t>
            </a:r>
            <a:r>
              <a:rPr lang="en-US" dirty="0"/>
              <a:t>Sequence)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876B9E-24D6-52CD-48CD-C0D0A2043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610" y="0"/>
            <a:ext cx="3820014" cy="686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54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372509"/>
            <a:ext cx="7729728" cy="1188720"/>
          </a:xfrm>
        </p:spPr>
        <p:txBody>
          <a:bodyPr/>
          <a:lstStyle/>
          <a:p>
            <a:r>
              <a:rPr lang="en-US" dirty="0"/>
              <a:t>UML </a:t>
            </a:r>
            <a:r>
              <a:rPr lang="ru-RU" dirty="0"/>
              <a:t>диаграмма классов (</a:t>
            </a:r>
            <a:r>
              <a:rPr lang="en-US" dirty="0"/>
              <a:t>Class)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2A29642F-7DA7-4547-6033-8A05E6D77B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4976" y="1691449"/>
            <a:ext cx="7242047" cy="4951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2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FF620-B654-4FF4-AC04-C21E87E2A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7FD04C-9B9C-77F6-9F98-10D6550A5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2509"/>
            <a:ext cx="7729728" cy="1188720"/>
          </a:xfrm>
        </p:spPr>
        <p:txBody>
          <a:bodyPr/>
          <a:lstStyle/>
          <a:p>
            <a:r>
              <a:rPr lang="ru-RU" dirty="0"/>
              <a:t>Концептуальная модель данных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5D651C70-7077-701C-E0F2-679150145D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3646" y="1635122"/>
            <a:ext cx="5844707" cy="510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5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433469"/>
            <a:ext cx="7729728" cy="1188720"/>
          </a:xfrm>
        </p:spPr>
        <p:txBody>
          <a:bodyPr/>
          <a:lstStyle/>
          <a:p>
            <a:r>
              <a:rPr lang="ru-RU" dirty="0"/>
              <a:t>ЛОГИЧЕСКАЯ МОДЕЛЬ ДАННЫХ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B0D810ED-3DCC-CD0B-C0EA-9A48B1BDA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9469" y="1838465"/>
            <a:ext cx="7549955" cy="469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294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7C54E-187A-C5CB-5D0B-7B1DD838D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F7ABCF-8C5A-AEA3-928A-572F90D66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33469"/>
            <a:ext cx="7729728" cy="1188720"/>
          </a:xfrm>
        </p:spPr>
        <p:txBody>
          <a:bodyPr/>
          <a:lstStyle/>
          <a:p>
            <a:r>
              <a:rPr lang="ru-RU" dirty="0"/>
              <a:t>Физическая модель данных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8B46336C-F71F-12BE-321B-4003C974C1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0634" y="1980548"/>
            <a:ext cx="8430731" cy="444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961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5" y="578294"/>
            <a:ext cx="7729728" cy="1188720"/>
          </a:xfrm>
        </p:spPr>
        <p:txBody>
          <a:bodyPr/>
          <a:lstStyle/>
          <a:p>
            <a:r>
              <a:rPr lang="ru-RU" dirty="0"/>
              <a:t>АНАЛИТИЧЕСКИЕ ЗАПРОСЫ К БАЗЕ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31135" y="1927653"/>
            <a:ext cx="7729728" cy="4073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Фильтрация игрушек по типу и бюджету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70CD6F3-8AE4-5AF0-D67C-4056E3A25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822" y="2641911"/>
            <a:ext cx="8944356" cy="339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442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5" y="510436"/>
            <a:ext cx="7729728" cy="1188720"/>
          </a:xfrm>
        </p:spPr>
        <p:txBody>
          <a:bodyPr/>
          <a:lstStyle/>
          <a:p>
            <a:r>
              <a:rPr lang="ru-RU" dirty="0"/>
              <a:t>АНАЛИТИЧЕСКИЕ ЗАПРОСЫ К БАЗЕ ДАННЫХ</a:t>
            </a:r>
          </a:p>
        </p:txBody>
      </p:sp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2231135" y="1853514"/>
            <a:ext cx="7729728" cy="5311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Расчёт средней рыночной стоимости по категориям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3D3A526-76AE-CCB2-53A8-D3D69681D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408" y="2384652"/>
            <a:ext cx="8081183" cy="396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67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31136" y="1969903"/>
            <a:ext cx="7234397" cy="4396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Проверка </a:t>
            </a:r>
            <a:r>
              <a:rPr lang="ru-RU" sz="2000" dirty="0" err="1"/>
              <a:t>заполненности</a:t>
            </a:r>
            <a:r>
              <a:rPr lang="ru-RU" sz="2000" dirty="0"/>
              <a:t> паспортных данных</a:t>
            </a:r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6" y="615120"/>
            <a:ext cx="7729728" cy="1188720"/>
          </a:xfrm>
        </p:spPr>
        <p:txBody>
          <a:bodyPr/>
          <a:lstStyle/>
          <a:p>
            <a:r>
              <a:rPr lang="ru-RU" dirty="0"/>
              <a:t>Проверочные ЗАПРОСЫ К БАЗЕ ДАННЫХ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19616C1-F431-A5ED-1BA3-1DDBE6C3C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616" y="2552851"/>
            <a:ext cx="6934767" cy="379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762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31136" y="424760"/>
            <a:ext cx="7729728" cy="1188720"/>
          </a:xfrm>
        </p:spPr>
        <p:txBody>
          <a:bodyPr/>
          <a:lstStyle/>
          <a:p>
            <a:r>
              <a:rPr lang="ru-RU" dirty="0"/>
              <a:t>ПОЛЬЗОВАТЕЛЬСКИЙ ИНТЕРФЕЙС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DEAA885-6213-21CF-AB02-46FE44D1D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136" y="2023518"/>
            <a:ext cx="7729727" cy="418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78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231136" y="608700"/>
            <a:ext cx="7729728" cy="1188720"/>
          </a:xfrm>
        </p:spPr>
        <p:txBody>
          <a:bodyPr/>
          <a:lstStyle/>
          <a:p>
            <a:r>
              <a:rPr lang="ru-RU" dirty="0"/>
              <a:t>ПОЛЬЗОВАТЕЛЬСКИЙ ИНТЕРФЕЙС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73CFA52-47A5-B446-F465-8C3B43CC0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47" y="2530729"/>
            <a:ext cx="5781818" cy="274535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5DED688-0858-0678-7139-204B1741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071" y="2265934"/>
            <a:ext cx="5940425" cy="417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992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21984" y="458065"/>
            <a:ext cx="7729728" cy="1188720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58097" y="1902941"/>
            <a:ext cx="9316995" cy="45225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ea typeface="Times New Roman" panose="02020603050405020304" pitchFamily="18" charset="0"/>
              </a:rPr>
              <a:t>	</a:t>
            </a:r>
            <a:r>
              <a:rPr lang="ru-RU" sz="2000" dirty="0"/>
              <a:t> В заключение курсового проекта по теме «Проектирование ИС «Интернет-магазин игрушек»» можно утверждать, что была разработана система, предоставляющая возможность управления каталогом товаров, обработки заказов клиентов, ведения учета складских запасов, генерации сопроводительных документов и контроля выполнения заказов с использованием информационной системы.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ru-RU" sz="2000" dirty="0"/>
              <a:t>Разработка этой информационной системы представляет собой важный шаг в сфере розничной торговли детскими товарами, обеспечивая удобный и доступный способ ведения учета товаров, клиентов, заказов, а также обеспечивает устойчивое конкурентное преимущество, снижение операционных издержек, автоматизацию бизнес-процессов и переход к клиентоориентированной модели обслуживания с возможностью персонализированных рекомендаций и программ лояльности.</a:t>
            </a:r>
          </a:p>
        </p:txBody>
      </p:sp>
    </p:spTree>
    <p:extLst>
      <p:ext uri="{BB962C8B-B14F-4D97-AF65-F5344CB8AC3E}">
        <p14:creationId xmlns:p14="http://schemas.microsoft.com/office/powerpoint/2010/main" val="18140638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48553" y="2697698"/>
            <a:ext cx="7729728" cy="118872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591347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204</TotalTime>
  <Words>784</Words>
  <Application>Microsoft Office PowerPoint</Application>
  <PresentationFormat>Широкоэкранный</PresentationFormat>
  <Paragraphs>80</Paragraphs>
  <Slides>24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1" baseType="lpstr">
      <vt:lpstr>Arial</vt:lpstr>
      <vt:lpstr>Calibri</vt:lpstr>
      <vt:lpstr>Corbel</vt:lpstr>
      <vt:lpstr>Gill Sans MT</vt:lpstr>
      <vt:lpstr>system-ui</vt:lpstr>
      <vt:lpstr>Times New Roman</vt:lpstr>
      <vt:lpstr>Parcel</vt:lpstr>
      <vt:lpstr>Презентация PowerPoint</vt:lpstr>
      <vt:lpstr>Описание предметной области</vt:lpstr>
      <vt:lpstr>Проблематика</vt:lpstr>
      <vt:lpstr>Цели и задачи</vt:lpstr>
      <vt:lpstr>Объект и предмет исследования</vt:lpstr>
      <vt:lpstr>Контекстная  Диаграмма idef0 «Покупка товара в интернет-магазине игрушек»</vt:lpstr>
      <vt:lpstr>ДЕКОМПОЗИЦИЯ ДИАГРАММЫ IDEF0 (1ур.)</vt:lpstr>
      <vt:lpstr>Контекстная ДИАГРАММА DFD  «Покупка товара в интернет-магазине игрушек»</vt:lpstr>
      <vt:lpstr>ДЕКОМПОЗИЦИЯ ДИАГРАММЫ DFD (1ур.)</vt:lpstr>
      <vt:lpstr>Техническое задание</vt:lpstr>
      <vt:lpstr>UML диаграмма вариантов использования (UseCase)</vt:lpstr>
      <vt:lpstr>UML диаграмма деятельности (Activity)</vt:lpstr>
      <vt:lpstr>UML диаграмма последовательности (Sequence)</vt:lpstr>
      <vt:lpstr>UML диаграмма классов (Class)</vt:lpstr>
      <vt:lpstr>Концептуальная модель данных</vt:lpstr>
      <vt:lpstr>ЛОГИЧЕСКАЯ МОДЕЛЬ ДАННЫХ</vt:lpstr>
      <vt:lpstr>Физическая модель данных</vt:lpstr>
      <vt:lpstr>АНАЛИТИЧЕСКИЕ ЗАПРОСЫ К БАЗЕ ДАННЫХ</vt:lpstr>
      <vt:lpstr>АНАЛИТИЧЕСКИЕ ЗАПРОСЫ К БАЗЕ ДАННЫХ</vt:lpstr>
      <vt:lpstr>Проверочные ЗАПРОСЫ К БАЗЕ ДАННЫХ</vt:lpstr>
      <vt:lpstr>ПОЛЬЗОВАТЕЛЬСКИЙ ИНТЕРФЕЙС</vt:lpstr>
      <vt:lpstr>ПОЛЬЗОВАТЕЛЬСКИЙ ИНТЕРФЕЙС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Ryzen</cp:lastModifiedBy>
  <cp:revision>20</cp:revision>
  <dcterms:created xsi:type="dcterms:W3CDTF">2026-05-05T04:42:58Z</dcterms:created>
  <dcterms:modified xsi:type="dcterms:W3CDTF">2026-05-11T06:38:01Z</dcterms:modified>
</cp:coreProperties>
</file>